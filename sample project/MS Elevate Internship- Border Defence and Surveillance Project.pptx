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69" y="542036"/>
            <a:ext cx="212915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372725" cy="657225"/>
          </a:xfrm>
          <a:custGeom>
            <a:avLst/>
            <a:gdLst/>
            <a:ahLst/>
            <a:cxnLst/>
            <a:rect l="l" t="t" r="r" b="b"/>
            <a:pathLst>
              <a:path w="10372725" h="657225">
                <a:moveTo>
                  <a:pt x="10372725" y="0"/>
                </a:moveTo>
                <a:lnTo>
                  <a:pt x="0" y="0"/>
                </a:lnTo>
                <a:lnTo>
                  <a:pt x="0" y="657225"/>
                </a:lnTo>
                <a:lnTo>
                  <a:pt x="10372725" y="657225"/>
                </a:lnTo>
                <a:lnTo>
                  <a:pt x="10372725" y="0"/>
                </a:lnTo>
                <a:close/>
              </a:path>
            </a:pathLst>
          </a:custGeom>
          <a:solidFill>
            <a:srgbClr val="2535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96075"/>
            <a:ext cx="12192000" cy="161925"/>
          </a:xfrm>
          <a:custGeom>
            <a:avLst/>
            <a:gdLst/>
            <a:ahLst/>
            <a:cxnLst/>
            <a:rect l="l" t="t" r="r" b="b"/>
            <a:pathLst>
              <a:path w="12192000" h="161925">
                <a:moveTo>
                  <a:pt x="12192000" y="0"/>
                </a:moveTo>
                <a:lnTo>
                  <a:pt x="0" y="0"/>
                </a:lnTo>
                <a:lnTo>
                  <a:pt x="0" y="161925"/>
                </a:lnTo>
                <a:lnTo>
                  <a:pt x="12192000" y="1619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34A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26338" y="134286"/>
            <a:ext cx="1357906" cy="386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69" y="542036"/>
            <a:ext cx="7387590" cy="9162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907" y="1547749"/>
            <a:ext cx="10413365" cy="392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DDHI-C-PATEL/Border-Defence-and-Surveillance-Project.gi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3429000"/>
              <a:ext cx="390525" cy="3429000"/>
            </a:xfrm>
            <a:custGeom>
              <a:avLst/>
              <a:gdLst/>
              <a:ahLst/>
              <a:cxnLst/>
              <a:rect l="l" t="t" r="r" b="b"/>
              <a:pathLst>
                <a:path w="390525" h="3429000">
                  <a:moveTo>
                    <a:pt x="0" y="3429000"/>
                  </a:moveTo>
                  <a:lnTo>
                    <a:pt x="390524" y="3429000"/>
                  </a:lnTo>
                  <a:lnTo>
                    <a:pt x="390525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28600" cy="3429000"/>
            </a:xfrm>
            <a:custGeom>
              <a:avLst/>
              <a:gdLst/>
              <a:ahLst/>
              <a:cxnLst/>
              <a:rect l="l" t="t" r="r" b="b"/>
              <a:pathLst>
                <a:path w="228600" h="3429000">
                  <a:moveTo>
                    <a:pt x="2286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228600" y="34290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5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505575"/>
              <a:ext cx="12192000" cy="352425"/>
            </a:xfrm>
            <a:custGeom>
              <a:avLst/>
              <a:gdLst/>
              <a:ahLst/>
              <a:cxnLst/>
              <a:rect l="l" t="t" r="r" b="b"/>
              <a:pathLst>
                <a:path w="12192000" h="352425">
                  <a:moveTo>
                    <a:pt x="0" y="352425"/>
                  </a:moveTo>
                  <a:lnTo>
                    <a:pt x="12192000" y="3524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52425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A black background with grey text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670" y="360388"/>
              <a:ext cx="1595980" cy="4560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8750" y="238061"/>
              <a:ext cx="6415151" cy="6510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91150" y="266700"/>
              <a:ext cx="6115050" cy="6210300"/>
            </a:xfrm>
            <a:custGeom>
              <a:avLst/>
              <a:gdLst/>
              <a:ahLst/>
              <a:cxnLst/>
              <a:rect l="l" t="t" r="r" b="b"/>
              <a:pathLst>
                <a:path w="6115050" h="6210300">
                  <a:moveTo>
                    <a:pt x="6115050" y="0"/>
                  </a:moveTo>
                  <a:lnTo>
                    <a:pt x="0" y="0"/>
                  </a:lnTo>
                  <a:lnTo>
                    <a:pt x="0" y="6210300"/>
                  </a:lnTo>
                  <a:lnTo>
                    <a:pt x="6115050" y="6210300"/>
                  </a:lnTo>
                  <a:lnTo>
                    <a:pt x="6115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325" y="962025"/>
              <a:ext cx="4591050" cy="4933950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96582" y="1239138"/>
            <a:ext cx="4137343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</a:t>
            </a:r>
            <a:r>
              <a:rPr sz="275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5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6107" y="1828800"/>
            <a:ext cx="4794568" cy="3832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4400" b="1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 Defence and Surveillance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800" b="1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System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endParaRPr lang="en-IN" sz="2800" b="1" spc="3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i="1" spc="14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b="1" i="1" spc="4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endParaRPr lang="en-US" b="1" i="1" spc="4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550" b="1" spc="4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600" b="1" spc="11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PATEL RIDDHI CHANDRAKANTBHAI</a:t>
            </a:r>
            <a:endParaRPr lang="en-US" sz="1600" b="1" spc="4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600" b="1" spc="17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SILVER OAK UNIVERSITY</a:t>
            </a:r>
            <a:r>
              <a:rPr sz="1600" b="1" spc="5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b="1" spc="5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600" b="1" spc="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600" b="1" spc="6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riddhipatel2404@gmail.com</a:t>
            </a:r>
            <a:endParaRPr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30202F-7976-20EA-7C12-6A4D1B6D9E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325" y="903952"/>
            <a:ext cx="4591050" cy="49339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542036"/>
            <a:ext cx="12191999" cy="916241"/>
          </a:xfrm>
          <a:prstGeom prst="rect">
            <a:avLst/>
          </a:prstGeom>
        </p:spPr>
        <p:txBody>
          <a:bodyPr vert="horz" wrap="square" lIns="0" tIns="799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OUTLINE: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490232"/>
            <a:ext cx="6943725" cy="39607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18135" indent="-30543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318135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4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sz="2400" b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spc="1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8135" indent="-30543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318135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2400" b="1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System/Solution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318135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400" b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sz="24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sz="2400" b="1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z="2400" b="1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sz="2400" b="1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318135" algn="l"/>
              </a:tabLst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2400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"/>
              <a:buChar char="•"/>
              <a:tabLst>
                <a:tab pos="318135" algn="l"/>
              </a:tabLst>
            </a:pP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685800"/>
            <a:ext cx="7387590" cy="715772"/>
          </a:xfrm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4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2400" y="1524000"/>
            <a:ext cx="10413365" cy="3165930"/>
          </a:xfrm>
          <a:prstGeom prst="rect">
            <a:avLst/>
          </a:prstGeom>
        </p:spPr>
        <p:txBody>
          <a:bodyPr vert="horz" wrap="square" lIns="0" tIns="209232" rIns="0" bIns="0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India's extensive border areas face major surveillance challenges that traditional monitoring systems cannot efficiently handle: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Border Coverage: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Thousands of kilometers of border regions are difficult to monitor continuously using limited human resources.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Threat Detection: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surveillance is affected by fatigue and delayed response, increasing the risk of unnoticed threats.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False Alerts: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sensors often generate false alarms due to animals, weather conditions, or environmental disturbances, leading to unnecessary actions.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 Integration: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Surveillance tools such as cameras, drones, and radar systems function independently without a centralized monitoring system.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Workforce: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Border security personnel cannot be deployed at every sensitive location at all times.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Predictive Analysis: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react only after incidents occur, lacking the ability to predict potential threats in advance.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97" y="677862"/>
            <a:ext cx="583374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40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389635"/>
            <a:ext cx="9836469" cy="51648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 challenges in traditional border surveillance, an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Border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Surveillance System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proposed. This system uses advanced technologies such as Artificial Intelligence, Machine Learning, Computer Vision, and real-time data processing to enhance border security.</a:t>
            </a:r>
          </a:p>
          <a:p>
            <a:pPr algn="l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Proposed Solution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Surveillance System: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intelligent monitoring using AI models to automatically detect suspicious activities and intrusions.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Threat Detection: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live video feeds and sensor data to identify threats instantly and reduce response time.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Object Detection: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and Deep Learning algorithms to classify objects such as humans, vehicles, and animals.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Alarm Reduction: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filtering to distinguish between real threats and environmental disturbances like animals or weather.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Data Integration: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data from cameras, drones, satellites, and sensors into a centralized monitoring dashboard.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historical data to identify high-risk zones and predict potential threats.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 System: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real-time alerts through dashboard notifications, emails, or SMS.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Multi-Border Monitoring: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multiple border locations simultaneously from a single control system. </a:t>
            </a:r>
          </a:p>
          <a:p>
            <a:pPr marL="12065" marR="5080">
              <a:lnSpc>
                <a:spcPts val="1280"/>
              </a:lnSpc>
              <a:spcBef>
                <a:spcPts val="275"/>
              </a:spcBef>
              <a:tabLst>
                <a:tab pos="318135" algn="l"/>
              </a:tabLst>
            </a:pPr>
            <a:endParaRPr sz="1200" dirty="0">
              <a:latin typeface="Franklin Gothic Medium"/>
              <a:cs typeface="Franklin Gothic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BB2AA-ADA4-2BB9-683C-3DB4185EAE84}"/>
              </a:ext>
            </a:extLst>
          </p:cNvPr>
          <p:cNvSpPr txBox="1"/>
          <p:nvPr/>
        </p:nvSpPr>
        <p:spPr>
          <a:xfrm>
            <a:off x="7391400" y="4937492"/>
            <a:ext cx="33569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threat detection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monitoring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national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422" y="638174"/>
            <a:ext cx="545211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364105" algn="l"/>
              </a:tabLst>
            </a:pP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1447800"/>
            <a:ext cx="11049000" cy="299825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AI-Based Border Defence and Surveillance System is developed using advanced technologies for real-time monitoring and threat detection.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React, JavaScript  , Bootstrap (Responsive UI Dashboard)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 , Flask Framework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/ Machine Learning 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Object Detection  , CNN Model , Anomaly Detection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 , Image &amp; Video Processing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/ MySQL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Tools :-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, GitHub , Local Server / Cloud (Optional)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Preprocessing → AI Detection → Threat Analysis → Alert Generation → Dashboard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" y="635857"/>
            <a:ext cx="8075931" cy="715772"/>
          </a:xfrm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z="4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4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4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4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spc="-4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sz="4000" spc="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0" y="1398811"/>
            <a:ext cx="10413365" cy="3952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the below steps to detect and monitor border threats: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surveillance data from cameras, drones, and sensors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collected images and video data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AI-based object detection model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objects such as human, vehicle, or animal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 detected object as normal or suspicious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for suspicious activities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on monitoring dashboard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deployed using the following steps: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AI model using dataset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model with backend (Flask)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frontend dashboard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system performance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on local server or cloud platform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BEF7D-1174-AFB5-A58D-19761D2F693E}"/>
              </a:ext>
            </a:extLst>
          </p:cNvPr>
          <p:cNvSpPr txBox="1"/>
          <p:nvPr/>
        </p:nvSpPr>
        <p:spPr>
          <a:xfrm>
            <a:off x="4343400" y="5029200"/>
            <a:ext cx="6209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Tools: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 / Cloud Deployment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0" y="685800"/>
            <a:ext cx="212915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40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4000" spc="-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sz="4000" spc="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0A50AEB-5954-D0ED-72E5-E6943E763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650317"/>
              </p:ext>
            </p:extLst>
          </p:nvPr>
        </p:nvGraphicFramePr>
        <p:xfrm>
          <a:off x="2111949" y="1203686"/>
          <a:ext cx="6629400" cy="300264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436602148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956917927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4041754833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1858729393"/>
                    </a:ext>
                  </a:extLst>
                </a:gridCol>
              </a:tblGrid>
              <a:tr h="214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849861"/>
                  </a:ext>
                </a:extLst>
              </a:tr>
              <a:tr h="363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Accuracy (Person)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779479"/>
                  </a:ext>
                </a:extLst>
              </a:tr>
              <a:tr h="457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Accuracy (Vehicle)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81624"/>
                  </a:ext>
                </a:extLst>
              </a:tr>
              <a:tr h="214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28+ 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&gt;20 FPS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76854"/>
                  </a:ext>
                </a:extLst>
              </a:tr>
              <a:tr h="363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Confidence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695944"/>
                  </a:ext>
                </a:extLst>
              </a:tr>
              <a:tr h="32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Positive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523079"/>
                  </a:ext>
                </a:extLst>
              </a:tr>
              <a:tr h="32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Response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&lt;2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&lt;3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0297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ABE8844-075C-F8D5-3952-28D09BDC5449}"/>
              </a:ext>
            </a:extLst>
          </p:cNvPr>
          <p:cNvSpPr txBox="1"/>
          <p:nvPr/>
        </p:nvSpPr>
        <p:spPr>
          <a:xfrm>
            <a:off x="228600" y="4177143"/>
            <a:ext cx="62041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Development Results</a:t>
            </a:r>
          </a:p>
          <a:p>
            <a:pPr algn="l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model successfully detects human, vehicle, and suspicious movement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YOLO-based object detection model implemented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alert system developed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Multi-border monitoring dashboard created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Heatmap visualization for high-risk zones generated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false alarms using AI filtering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8719A-EED2-3DD2-D3A6-94CCF0463F24}"/>
              </a:ext>
            </a:extLst>
          </p:cNvPr>
          <p:cNvSpPr txBox="1"/>
          <p:nvPr/>
        </p:nvSpPr>
        <p:spPr>
          <a:xfrm>
            <a:off x="5751872" y="4177143"/>
            <a:ext cx="62041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Generated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Detection Dashboard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Threat Alert Notifications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 Zone Heatmap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Surveillance Monitoring Panel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685800"/>
            <a:ext cx="738759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752600"/>
            <a:ext cx="7848600" cy="2507738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AI-Based Border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Surveillance System provides an intelligent and automated solution for border security challenges. The system successfully detects suspicious activities in real time using Artificial Intelligence and Machine Learning techniques.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monitoring efforts, minimizes false alarms, and improves threat detection accuracy. The centralized dashboard enables efficient monitoring of multiple border locations, ensuring faster decision-making and response.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system enhances border security, improves operational efficiency, and provides a scalable solution for future smart surveillance applications.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685800"/>
            <a:ext cx="738759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4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E156224-4975-094E-DEF9-9466AF125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662553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drone-based surveillance for wider border coverage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satellite monitoring and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for instant alerts and remote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models for improved prediction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sensors and smart devices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GPS-based tracking and geo-fencing for high-risk zones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deployment for large-scale monitoring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685800"/>
            <a:ext cx="738759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86130" y="4038600"/>
            <a:ext cx="10413365" cy="37638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/>
              <a:t>GitHub</a:t>
            </a:r>
            <a:r>
              <a:rPr spc="35" dirty="0"/>
              <a:t> </a:t>
            </a:r>
            <a:r>
              <a:rPr dirty="0"/>
              <a:t>Link:</a:t>
            </a:r>
            <a:r>
              <a:rPr spc="5" dirty="0"/>
              <a:t> </a:t>
            </a:r>
            <a:r>
              <a:rPr lang="en-IN" sz="1600" spc="5" dirty="0">
                <a:solidFill>
                  <a:srgbClr val="00123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https://github.com/RIDDHI-C-PATEL/Border-Defence-and-Surveillance-Project.git</a:t>
            </a:r>
            <a:endParaRPr sz="1600" u="sng" spc="-20" dirty="0">
              <a:solidFill>
                <a:srgbClr val="001236"/>
              </a:solidFill>
              <a:uFill>
                <a:solidFill>
                  <a:srgbClr val="006FC0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36322F-0047-82D1-A471-A934C1A20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84" y="1436638"/>
            <a:ext cx="53880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Research Papers on Border Surveillance and AI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Datasets for Object Detection and Surveillance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 Documentation and Tutorials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 Computer Vision Documentation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 Object Detection Research Papers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Open-source Border Surveillance Projects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 Research Papers and Publications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NASA Satellite Imagery Datasets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33800" y="2819400"/>
            <a:ext cx="4970399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6000" spc="-19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65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979</Words>
  <Application>Microsoft Office PowerPoint</Application>
  <PresentationFormat>Widescreen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Franklin Gothic Medium</vt:lpstr>
      <vt:lpstr>Times New Roman</vt:lpstr>
      <vt:lpstr>Wingdings</vt:lpstr>
      <vt:lpstr>Office Theme</vt:lpstr>
      <vt:lpstr>CAPSTONE PROJECT</vt:lpstr>
      <vt:lpstr>OUTLINE:</vt:lpstr>
      <vt:lpstr>PROBLEM STATEMENT:</vt:lpstr>
      <vt:lpstr>PROPOSED SOLUTION:</vt:lpstr>
      <vt:lpstr>SYSTEM APPROACH</vt:lpstr>
      <vt:lpstr>ALGORITHM &amp; DEPLOYMENT</vt:lpstr>
      <vt:lpstr>RESULT</vt:lpstr>
      <vt:lpstr>CONCLUSION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Patel riddhi</dc:creator>
  <cp:lastModifiedBy>Uttpal Patel</cp:lastModifiedBy>
  <cp:revision>3</cp:revision>
  <dcterms:created xsi:type="dcterms:W3CDTF">2026-03-20T04:16:46Z</dcterms:created>
  <dcterms:modified xsi:type="dcterms:W3CDTF">2026-04-10T11:08:05Z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LastSaved">
    <vt:filetime>2026-03-20T00:00:00Z</vt:filetime>
  </property>
</Properties>
</file>